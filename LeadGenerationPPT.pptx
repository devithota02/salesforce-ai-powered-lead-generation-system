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  <p:embeddedFont>
      <p:font typeface="Unbounded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77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62514" y="1162173"/>
            <a:ext cx="3285368" cy="222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AI-Powered Lead Generation System Using Salesforce CRM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33717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A3B1D-D3AD-43F6-1D46-7BF750579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74" y="731520"/>
            <a:ext cx="4918750" cy="2766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D31B7F-0446-BE31-303A-3918AB5A0A99}"/>
              </a:ext>
            </a:extLst>
          </p:cNvPr>
          <p:cNvSpPr txBox="1"/>
          <p:nvPr/>
        </p:nvSpPr>
        <p:spPr>
          <a:xfrm rot="10800000" flipV="1">
            <a:off x="5775467" y="3649862"/>
            <a:ext cx="26193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Submitted By:</a:t>
            </a:r>
            <a:br>
              <a:rPr lang="en-IN" dirty="0"/>
            </a:br>
            <a:r>
              <a:rPr lang="en-IN" dirty="0"/>
              <a:t>Devi Thota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– Computer Science &amp; Engineering</a:t>
            </a:r>
            <a:br>
              <a:rPr lang="en-IN" dirty="0"/>
            </a:b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6CCF4-BD49-2250-DA25-7873BAF7E730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54757" y="187375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757" y="712515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45777" y="84638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is AI-Powered Lead Generation?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1945777" y="1093738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Automating the identification, scoring, and nurturing of potential customers using machine learning integrated directly with CRM platforms.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757" y="1681237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45777" y="1815108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Platform: Salesforce Sales Cloud + Einstein AI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945777" y="206246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world's #1 CRM with built-in predictive intelligence — purpose-built for enterprise-scale lead management.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757" y="2649960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5777" y="2783830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945777" y="3031183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reps spend </a:t>
            </a: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64% of their time on non-selling tasks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AI automation reclaims that time for high-value customer interactions.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4757" y="3618682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45777" y="3752553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1945777" y="3999905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pipeline — from raw lead capture to AI-scored, sales-ready opportunities fully managed within Salesforce.</a:t>
            </a:r>
            <a:endParaRPr lang="en-US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E1946F-4EAD-A8F7-CA1D-FFDF7BCB60C1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5059"/>
            <a:ext cx="8151763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Problem: Why Traditional Lead Generation Fails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424172" y="1230735"/>
            <a:ext cx="2691557" cy="730597"/>
          </a:xfrm>
          <a:prstGeom prst="roundRect">
            <a:avLst>
              <a:gd name="adj" fmla="val 585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30807" y="1337370"/>
            <a:ext cx="2478286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Manual Filtering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530807" y="1574602"/>
            <a:ext cx="24782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Reps sift through hundreds of leads using gut feel — missing high-value prospects buried in the noise.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24172" y="2034555"/>
            <a:ext cx="2691557" cy="870645"/>
          </a:xfrm>
          <a:prstGeom prst="roundRect">
            <a:avLst>
              <a:gd name="adj" fmla="val 491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0807" y="2141191"/>
            <a:ext cx="2478286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No Prioritization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30807" y="2378423"/>
            <a:ext cx="247828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leads treated equally — high-intent buyers buried under low-quality contacts with no scoring system.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24172" y="2978423"/>
            <a:ext cx="2691557" cy="730597"/>
          </a:xfrm>
          <a:prstGeom prst="roundRect">
            <a:avLst>
              <a:gd name="adj" fmla="val 585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0807" y="3085059"/>
            <a:ext cx="2478286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Slow Response 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30807" y="3322291"/>
            <a:ext cx="24782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follow-up takes </a:t>
            </a: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42 hours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Leads go cold within minutes of showing buying intent.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24172" y="3782244"/>
            <a:ext cx="2691557" cy="730597"/>
          </a:xfrm>
          <a:prstGeom prst="roundRect">
            <a:avLst>
              <a:gd name="adj" fmla="val 585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0807" y="3888879"/>
            <a:ext cx="2478286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🗂️</a:t>
            </a: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Data Silos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0807" y="4126111"/>
            <a:ext cx="24782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data scattered across spreadsheets, email, and disconnected tools — no single source of truth.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B3AFDB-2F2A-C36A-CA1A-4F026FF6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6" y="1647825"/>
            <a:ext cx="4856424" cy="273041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411ED5-3D40-2BD0-BFDD-4796730630DB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8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7043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551236"/>
            <a:ext cx="2622724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660178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Automate Lead Capture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188146"/>
            <a:ext cx="2622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Ingest leads from multiple channels — web forms, social media, email campaigns — directly into Salesforce CRM.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347043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60601" y="1551236"/>
            <a:ext cx="2622724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5"/>
          <p:cNvSpPr/>
          <p:nvPr/>
        </p:nvSpPr>
        <p:spPr>
          <a:xfrm>
            <a:off x="3260601" y="166017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Einstein AI Scoring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60601" y="1966689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Einstein AI to score and rank every lead by conversion probability in real time, every hour.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5083" y="1347043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25083" y="1551236"/>
            <a:ext cx="2622724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8"/>
          <p:cNvSpPr/>
          <p:nvPr/>
        </p:nvSpPr>
        <p:spPr>
          <a:xfrm>
            <a:off x="6025083" y="1660178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Automated Nurturing Workflows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25083" y="2188146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 targeted nurturing sequences based on lead score thresholds — no manual handoffs required.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61134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6119" y="3565327"/>
            <a:ext cx="400496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1"/>
          <p:cNvSpPr/>
          <p:nvPr/>
        </p:nvSpPr>
        <p:spPr>
          <a:xfrm>
            <a:off x="496119" y="3674269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Unified Sales Dashboard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6119" y="398078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teams with a Lightning Dashboard for full pipeline visibility and actionable, AI-driven insights.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842" y="3361134"/>
            <a:ext cx="141759" cy="14175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642842" y="3565327"/>
            <a:ext cx="4004965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4"/>
          <p:cNvSpPr/>
          <p:nvPr/>
        </p:nvSpPr>
        <p:spPr>
          <a:xfrm>
            <a:off x="4642842" y="3674269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Measurable Impact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642842" y="398078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manual effort by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≥60%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improve lead-to-opportunity conversion rate across the pipeline.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5A6C4A-E091-8248-E04F-F310B518E995}"/>
              </a:ext>
            </a:extLst>
          </p:cNvPr>
          <p:cNvSpPr/>
          <p:nvPr/>
        </p:nvSpPr>
        <p:spPr>
          <a:xfrm>
            <a:off x="8034921" y="4843370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Architecture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52847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262369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Delivery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551891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Automation, routing and Lightning KPIs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488577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Platform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778098"/>
            <a:ext cx="1827290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Salesforce Sales Cloud and lead records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2171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11238"/>
            <a:ext cx="1987578" cy="28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Einstein ML models and scoring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539630"/>
            <a:ext cx="815176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follows a clean five-tier separation of concerns — from raw data ingestion at the top to real-time executive dashboards at the bottom. Einstein AI sits at the core, orchestrating intelligent decisions between the data and CRM layers.</a:t>
            </a:r>
            <a:endParaRPr lang="en-US" sz="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184E7A-99AB-2505-71D4-9CB6FE0314DD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Workflow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8514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Score-Based Routing Logic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731294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Leads are </a:t>
            </a:r>
            <a:r>
              <a:rPr lang="en-US" sz="5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rescored every hour</a:t>
            </a: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as behavior changes, routing updates automatically with no manual intervention.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394022" y="4371940"/>
            <a:ext cx="2693640" cy="525141"/>
          </a:xfrm>
          <a:prstGeom prst="roundRect">
            <a:avLst>
              <a:gd name="adj" fmla="val 650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 rot="10800000" flipV="1">
            <a:off x="571723" y="4439243"/>
            <a:ext cx="1003405" cy="7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Score ≥ 70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71723" y="4583799"/>
            <a:ext cx="2542431" cy="410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Immediately assigned to a sales rep for direct outreach and fast-track conversion.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3189758" y="4371940"/>
            <a:ext cx="2729062" cy="525140"/>
          </a:xfrm>
          <a:prstGeom prst="roundRect">
            <a:avLst>
              <a:gd name="adj" fmla="val 183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00785" y="4421106"/>
            <a:ext cx="2542431" cy="9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Score 40–69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351833" y="4608569"/>
            <a:ext cx="2542431" cy="28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Enrolled in automated email nurture sequence to build engagement over time.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6005291" y="4371939"/>
            <a:ext cx="2618035" cy="485381"/>
          </a:xfrm>
          <a:prstGeom prst="roundRect">
            <a:avLst>
              <a:gd name="adj" fmla="val 650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6029846" y="4764665"/>
            <a:ext cx="2542431" cy="13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Score &lt; 40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020916" y="4512800"/>
            <a:ext cx="2551361" cy="9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Routed to marketing queue for top-of-funnel campaigns until score improves.</a:t>
            </a:r>
            <a:endParaRPr lang="en-US" sz="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32978-BAB1-1B5A-5EE5-9180B3D277E5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40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Technologies Used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95908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244575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Salesforce Sales Cloud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772543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CRM — lead management, opportunity tracking, and pipeline reporting at enterprise scale.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195908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244575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Salesforce Einstein AI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1772543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lead scoring, behavioral analysis, and next-best-action recommendations built natively into the CRM.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195908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244575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Apex (Java-like)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1551087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server-side business logic and trigger automation — full programmatic control over CRM events.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011984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Salesforce Flow + LWC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539951"/>
            <a:ext cx="213843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No-code/low-code workflow automation for routing and notifications; Lightning Web Components for custom dashboard UI.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96331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011984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REST API / Web-to-Lead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539951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Multi-channel lead ingestion from external sources — web forms, social ads, and third-party platforms.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74DA0C-0156-C472-6A53-503BF2BECEDB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449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Lead Scoring: How Einstein Works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27956"/>
            <a:ext cx="3935388" cy="28326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65823"/>
            <a:ext cx="393538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Einstein scores strongly correlate with lead conversion — demonstrating the model's real predictive power. </a:t>
            </a:r>
            <a:r>
              <a:rPr lang="en-US" sz="9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Replace with your actual project results.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17256" y="1016273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Einstein Scores Your Leads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17256" y="1301428"/>
            <a:ext cx="259110" cy="259110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69904" y="1341016"/>
            <a:ext cx="35827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69904" y="1614488"/>
            <a:ext cx="3582739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title, company size, industry, email engagement, website visits, and past purchase history all feed the model.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17256" y="2135609"/>
            <a:ext cx="259110" cy="259110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69904" y="2175197"/>
            <a:ext cx="35827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 Model Selection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69904" y="2448669"/>
            <a:ext cx="3582739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Einstein automatically selects the best algorithm — Logistic Regression, Random Forest, or Naive Bayes — tailored specifically to each organization's own data.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17256" y="3136776"/>
            <a:ext cx="259110" cy="259110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69904" y="3176364"/>
            <a:ext cx="35827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Score Output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69904" y="3449836"/>
            <a:ext cx="3582739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lead receives a </a:t>
            </a: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1–100 score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plus top positive and negative factors displayed directly on the lead record.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17256" y="3889028"/>
            <a:ext cx="3935388" cy="726728"/>
          </a:xfrm>
          <a:prstGeom prst="roundRect">
            <a:avLst>
              <a:gd name="adj" fmla="val 6657"/>
            </a:avLst>
          </a:prstGeom>
          <a:solidFill>
            <a:srgbClr val="B6FCB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375" y="4060701"/>
            <a:ext cx="143917" cy="1151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91410" y="4001914"/>
            <a:ext cx="3446115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proof: Square scores </a:t>
            </a: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25,000 leads/month</a:t>
            </a: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a </a:t>
            </a:r>
            <a:r>
              <a:rPr lang="en-US" sz="9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64% improvement</a:t>
            </a: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conversion efficiency using Einstein Lead Scoring.</a:t>
            </a:r>
            <a:endParaRPr lang="en-US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02D6E-F8CF-D79B-8676-070CA03FB6F9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19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Salesforce Dashboard — Live Demo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83618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Lightning Dashboard provides real-time visibility into the AI-powered lead pipeline — from raw capture to closed opportunity.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5185" y="1401068"/>
            <a:ext cx="3680668" cy="3278237"/>
          </a:xfrm>
          <a:prstGeom prst="roundRect">
            <a:avLst>
              <a:gd name="adj" fmla="val 2773"/>
            </a:avLst>
          </a:prstGeom>
          <a:solidFill>
            <a:srgbClr val="DDF8F2"/>
          </a:solidFill>
          <a:ln/>
        </p:spPr>
      </p:sp>
      <p:sp>
        <p:nvSpPr>
          <p:cNvPr id="5" name="Text 3"/>
          <p:cNvSpPr/>
          <p:nvPr/>
        </p:nvSpPr>
        <p:spPr>
          <a:xfrm>
            <a:off x="531391" y="1513508"/>
            <a:ext cx="342825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 Components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18" y="1841190"/>
            <a:ext cx="189384" cy="189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636" y="1837283"/>
            <a:ext cx="30180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KPI Tiles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1636" y="2146995"/>
            <a:ext cx="3018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leads, average Einstein score, conversion rate, and open opportunities — at a glance.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18" y="2757674"/>
            <a:ext cx="189384" cy="1893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1636" y="2753767"/>
            <a:ext cx="30180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Visual Charts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41636" y="3063478"/>
            <a:ext cx="301801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score distribution, source-wise lead volume, and weekly conversion trend visualized in real time.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18" y="3865104"/>
            <a:ext cx="189384" cy="1893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636" y="3861197"/>
            <a:ext cx="30180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 Priority View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41636" y="4170908"/>
            <a:ext cx="301801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sales rep sees a personalized to-do list ranked by AI score — highest value leads always on top.</a:t>
            </a:r>
            <a:endParaRPr lang="en-US" sz="950" dirty="0"/>
          </a:p>
        </p:txBody>
      </p:sp>
      <p:pic>
        <p:nvPicPr>
          <p:cNvPr id="15" name="Imag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66830" y="1663080"/>
            <a:ext cx="3026665" cy="24619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79156" y="4251573"/>
            <a:ext cx="480201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 your Salesforce Dashboard screenshot here during final demo.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83E1A8-A44E-0C5E-085D-EFDB774457C4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5837" y="1368624"/>
            <a:ext cx="3818649" cy="26488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213"/>
            <a:ext cx="4722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Advantages of the System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96119" y="823987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60%+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1223293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Less Manual Work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405235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 in manual lead qualification time — reps focus on selling, not sorting through low-quality contacts.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1697013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1hr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96119" y="2096319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Rescore Frequency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278261"/>
            <a:ext cx="472276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Leads rescored every hour. If behavior changes, routing updates automatically — zero stale data in the pipeline.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2693268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25hrs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96119" y="3092574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Saved Per Week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274516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Sellers save up to 25 hours per week with Agentforce AI handling prospecting and follow-ups automatically.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96119" y="3566294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∞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96119" y="3965600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Scalable &amp; Cloud-Native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119" y="4147542"/>
            <a:ext cx="47227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thousands of leads with zero infrastructure overhead — grows with your business, not against it.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96119" y="4339456"/>
            <a:ext cx="4722763" cy="408831"/>
          </a:xfrm>
          <a:prstGeom prst="roundRect">
            <a:avLst>
              <a:gd name="adj" fmla="val 9558"/>
            </a:avLst>
          </a:prstGeom>
          <a:solidFill>
            <a:srgbClr val="D6F5EE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36" y="4460007"/>
            <a:ext cx="116235" cy="930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8388" y="4423693"/>
            <a:ext cx="4327475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system demonstrates how AI-native CRM design transforms sales operations — turning data into decisions, and decisions into closed deals.</a:t>
            </a:r>
            <a:endParaRPr lang="en-US" sz="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2135AF-F7DC-FBA1-BFF5-B9203A9C6CDA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2D243-1AD0-9383-39FE-4EB14E55570C}"/>
              </a:ext>
            </a:extLst>
          </p:cNvPr>
          <p:cNvSpPr txBox="1"/>
          <p:nvPr/>
        </p:nvSpPr>
        <p:spPr>
          <a:xfrm>
            <a:off x="1563329" y="2029378"/>
            <a:ext cx="6312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Unbounded Bold" panose="020B0604020202020204" charset="0"/>
              </a:rPr>
              <a:t>THANK YOU</a:t>
            </a:r>
            <a:endParaRPr lang="en-IN" sz="6000" b="1" dirty="0">
              <a:solidFill>
                <a:schemeClr val="accent1">
                  <a:lumMod val="75000"/>
                </a:schemeClr>
              </a:solidFill>
              <a:latin typeface="Unbounded Bold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461EFF-A8FF-83A5-DA5A-D71C1EA98FB7}"/>
              </a:ext>
            </a:extLst>
          </p:cNvPr>
          <p:cNvSpPr/>
          <p:nvPr/>
        </p:nvSpPr>
        <p:spPr>
          <a:xfrm>
            <a:off x="8034921" y="4831572"/>
            <a:ext cx="1109079" cy="241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6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904</Words>
  <Application>Microsoft Office PowerPoint</Application>
  <PresentationFormat>On-screen Show (16:9)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 Bold</vt:lpstr>
      <vt:lpstr>Twemoji Mozilla</vt:lpstr>
      <vt:lpstr>Arial</vt:lpstr>
      <vt:lpstr>Unbounded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DEVI</dc:creator>
  <cp:lastModifiedBy>DEVI THOTA</cp:lastModifiedBy>
  <cp:revision>2</cp:revision>
  <dcterms:created xsi:type="dcterms:W3CDTF">2026-07-17T15:41:43Z</dcterms:created>
  <dcterms:modified xsi:type="dcterms:W3CDTF">2026-07-17T16:14:35Z</dcterms:modified>
</cp:coreProperties>
</file>